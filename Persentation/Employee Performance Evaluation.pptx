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8288000" cy="10287000"/>
  <p:notesSz cx="6858000" cy="9144000"/>
  <p:embeddedFontLst>
    <p:embeddedFont>
      <p:font typeface="DM Sans" pitchFamily="2" charset="0"/>
      <p:regular r:id="rId14"/>
    </p:embeddedFont>
    <p:embeddedFont>
      <p:font typeface="DM Sans Bold" panose="020B0604020202020204" charset="0"/>
      <p:regular r:id="rId15"/>
    </p:embeddedFont>
    <p:embeddedFont>
      <p:font typeface="Public Sans Bold" panose="020B0604020202020204" charset="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0" d="100"/>
          <a:sy n="70" d="100"/>
        </p:scale>
        <p:origin x="260" y="6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datasets/ravindrasinghrana/employeedataset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286000" y="1683544"/>
            <a:ext cx="13716000" cy="4286250"/>
            <a:chOff x="0" y="0"/>
            <a:chExt cx="18288000" cy="5715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8288000" cy="5715000"/>
            </a:xfrm>
            <a:custGeom>
              <a:avLst/>
              <a:gdLst/>
              <a:ahLst/>
              <a:cxnLst/>
              <a:rect l="l" t="t" r="r" b="b"/>
              <a:pathLst>
                <a:path w="18288000" h="5715000">
                  <a:moveTo>
                    <a:pt x="0" y="0"/>
                  </a:moveTo>
                  <a:lnTo>
                    <a:pt x="18288000" y="0"/>
                  </a:lnTo>
                  <a:lnTo>
                    <a:pt x="18288000" y="5715000"/>
                  </a:lnTo>
                  <a:lnTo>
                    <a:pt x="0" y="5715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0574" b="-4129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95250"/>
              <a:ext cx="18288000" cy="5619750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ctr">
                <a:lnSpc>
                  <a:spcPts val="9720"/>
                </a:lnSpc>
              </a:pPr>
              <a:r>
                <a:rPr lang="en-US" sz="9000" b="1">
                  <a:solidFill>
                    <a:srgbClr val="00A3C4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EMPLOYEE PERFORMANCE EVALUATION</a:t>
              </a: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2377440" y="6017419"/>
            <a:ext cx="13533120" cy="4930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88"/>
              </a:lnSpc>
            </a:pPr>
            <a:r>
              <a:rPr lang="en-US" sz="36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by Irwan Lazuardi Saldeni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57300" y="547688"/>
            <a:ext cx="15773400" cy="1988345"/>
            <a:chOff x="0" y="0"/>
            <a:chExt cx="21031200" cy="265112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031200" cy="2651127"/>
            </a:xfrm>
            <a:custGeom>
              <a:avLst/>
              <a:gdLst/>
              <a:ahLst/>
              <a:cxnLst/>
              <a:rect l="l" t="t" r="r" b="b"/>
              <a:pathLst>
                <a:path w="21031200" h="2651127">
                  <a:moveTo>
                    <a:pt x="0" y="0"/>
                  </a:moveTo>
                  <a:lnTo>
                    <a:pt x="21031200" y="0"/>
                  </a:lnTo>
                  <a:lnTo>
                    <a:pt x="21031200" y="2651127"/>
                  </a:lnTo>
                  <a:lnTo>
                    <a:pt x="0" y="265112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04573" b="-104573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57150"/>
              <a:ext cx="21031200" cy="259397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128"/>
                </a:lnSpc>
              </a:pPr>
              <a:r>
                <a:rPr lang="en-US" sz="6600" b="1">
                  <a:solidFill>
                    <a:srgbClr val="00000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Table of Content</a:t>
              </a: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4371946" y="3580257"/>
            <a:ext cx="5915054" cy="9239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085850" lvl="1" indent="-542925" algn="l">
              <a:lnSpc>
                <a:spcPts val="7200"/>
              </a:lnSpc>
              <a:buFont typeface="Arial"/>
              <a:buChar char="•"/>
            </a:pPr>
            <a:r>
              <a:rPr lang="en-US" sz="6000" b="1" dirty="0">
                <a:solidFill>
                  <a:srgbClr val="00C197"/>
                </a:solidFill>
                <a:latin typeface="DM Sans Bold"/>
                <a:ea typeface="DM Sans Bold"/>
                <a:cs typeface="DM Sans Bold"/>
                <a:sym typeface="DM Sans Bold"/>
              </a:rPr>
              <a:t>Introduction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045784" y="5186391"/>
            <a:ext cx="7404398" cy="923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085850" lvl="1" indent="-542925" algn="l">
              <a:lnSpc>
                <a:spcPts val="7200"/>
              </a:lnSpc>
              <a:buFont typeface="Arial"/>
              <a:buChar char="•"/>
            </a:pPr>
            <a:r>
              <a:rPr lang="en-US" sz="6000" b="1" dirty="0">
                <a:solidFill>
                  <a:srgbClr val="18418D"/>
                </a:solidFill>
                <a:latin typeface="DM Sans Bold"/>
                <a:ea typeface="DM Sans Bold"/>
                <a:cs typeface="DM Sans Bold"/>
                <a:sym typeface="DM Sans Bold"/>
              </a:rPr>
              <a:t>Project Overview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686923" y="6792516"/>
            <a:ext cx="5710436" cy="923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085850" lvl="1" indent="-542925" algn="l">
              <a:lnSpc>
                <a:spcPts val="7200"/>
              </a:lnSpc>
              <a:buFont typeface="Arial"/>
              <a:buChar char="•"/>
            </a:pPr>
            <a:r>
              <a:rPr lang="en-US" sz="6000" b="1" dirty="0">
                <a:solidFill>
                  <a:srgbClr val="007BFF"/>
                </a:solidFill>
                <a:latin typeface="DM Sans Bold"/>
                <a:ea typeface="DM Sans Bold"/>
                <a:cs typeface="DM Sans Bold"/>
                <a:sym typeface="DM Sans Bold"/>
              </a:rPr>
              <a:t>Main Project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57300" y="547688"/>
            <a:ext cx="15773400" cy="1988345"/>
            <a:chOff x="0" y="0"/>
            <a:chExt cx="21031200" cy="265112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031200" cy="2651127"/>
            </a:xfrm>
            <a:custGeom>
              <a:avLst/>
              <a:gdLst/>
              <a:ahLst/>
              <a:cxnLst/>
              <a:rect l="l" t="t" r="r" b="b"/>
              <a:pathLst>
                <a:path w="21031200" h="2651127">
                  <a:moveTo>
                    <a:pt x="0" y="0"/>
                  </a:moveTo>
                  <a:lnTo>
                    <a:pt x="21031200" y="0"/>
                  </a:lnTo>
                  <a:lnTo>
                    <a:pt x="21031200" y="2651127"/>
                  </a:lnTo>
                  <a:lnTo>
                    <a:pt x="0" y="265112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04573" b="-104573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76200"/>
              <a:ext cx="21031200" cy="257492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776"/>
                </a:lnSpc>
              </a:pPr>
              <a:r>
                <a:rPr lang="en-US" sz="7200" b="1">
                  <a:solidFill>
                    <a:srgbClr val="00C197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Introduction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487434" y="2536031"/>
            <a:ext cx="4656763" cy="4501429"/>
            <a:chOff x="0" y="0"/>
            <a:chExt cx="6209017" cy="600190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209030" cy="6001893"/>
            </a:xfrm>
            <a:custGeom>
              <a:avLst/>
              <a:gdLst/>
              <a:ahLst/>
              <a:cxnLst/>
              <a:rect l="l" t="t" r="r" b="b"/>
              <a:pathLst>
                <a:path w="6209030" h="6001893">
                  <a:moveTo>
                    <a:pt x="0" y="0"/>
                  </a:moveTo>
                  <a:lnTo>
                    <a:pt x="6209030" y="0"/>
                  </a:lnTo>
                  <a:lnTo>
                    <a:pt x="6209030" y="6001893"/>
                  </a:lnTo>
                  <a:lnTo>
                    <a:pt x="0" y="60018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30879" b="-7055"/>
              </a:stretch>
            </a:blipFill>
          </p:spPr>
        </p:sp>
      </p:grpSp>
      <p:sp>
        <p:nvSpPr>
          <p:cNvPr id="7" name="TextBox 7"/>
          <p:cNvSpPr txBox="1"/>
          <p:nvPr/>
        </p:nvSpPr>
        <p:spPr>
          <a:xfrm>
            <a:off x="1270044" y="7427633"/>
            <a:ext cx="5091551" cy="723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0"/>
              </a:lnSpc>
            </a:pPr>
            <a:r>
              <a:rPr lang="en-US" sz="239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Irwan Lazuardi Saldeni</a:t>
            </a:r>
          </a:p>
          <a:p>
            <a:pPr algn="l">
              <a:lnSpc>
                <a:spcPts val="2870"/>
              </a:lnSpc>
            </a:pPr>
            <a:r>
              <a:rPr lang="en-US" sz="239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@dibimbing Bootcamp Data Analist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346548" y="2258311"/>
            <a:ext cx="6481810" cy="3371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1" dirty="0">
                <a:solidFill>
                  <a:srgbClr val="18418D"/>
                </a:solidFill>
                <a:latin typeface="DM Sans Bold"/>
                <a:ea typeface="DM Sans Bold"/>
                <a:cs typeface="DM Sans Bold"/>
                <a:sym typeface="DM Sans Bold"/>
              </a:rPr>
              <a:t>Education</a:t>
            </a:r>
          </a:p>
          <a:p>
            <a:pPr algn="l">
              <a:lnSpc>
                <a:spcPts val="5040"/>
              </a:lnSpc>
            </a:pPr>
            <a:r>
              <a:rPr lang="en-US" sz="4200" b="1" dirty="0">
                <a:solidFill>
                  <a:srgbClr val="18418D"/>
                </a:solidFill>
                <a:latin typeface="DM Sans Bold"/>
                <a:ea typeface="DM Sans Bold"/>
                <a:cs typeface="DM Sans Bold"/>
                <a:sym typeface="DM Sans Bold"/>
              </a:rPr>
              <a:t>Universitas Gadjah Mada</a:t>
            </a:r>
          </a:p>
          <a:p>
            <a:pPr algn="l">
              <a:lnSpc>
                <a:spcPts val="5040"/>
              </a:lnSpc>
            </a:pPr>
            <a:r>
              <a:rPr lang="en-US" sz="4200" b="1" dirty="0">
                <a:solidFill>
                  <a:srgbClr val="18418D"/>
                </a:solidFill>
                <a:latin typeface="DM Sans Bold"/>
                <a:ea typeface="DM Sans Bold"/>
                <a:cs typeface="DM Sans Bold"/>
                <a:sym typeface="DM Sans Bold"/>
              </a:rPr>
              <a:t>Electrical Engineering</a:t>
            </a:r>
          </a:p>
          <a:p>
            <a:pPr algn="l">
              <a:lnSpc>
                <a:spcPts val="5040"/>
              </a:lnSpc>
            </a:pPr>
            <a:r>
              <a:rPr lang="en-US" sz="4200" b="1" dirty="0">
                <a:solidFill>
                  <a:srgbClr val="18418D"/>
                </a:solidFill>
                <a:latin typeface="DM Sans Bold"/>
                <a:ea typeface="DM Sans Bold"/>
                <a:cs typeface="DM Sans Bold"/>
                <a:sym typeface="DM Sans Bold"/>
              </a:rPr>
              <a:t>Graduated at Mei 2025</a:t>
            </a:r>
          </a:p>
          <a:p>
            <a:pPr algn="l">
              <a:lnSpc>
                <a:spcPts val="5040"/>
              </a:lnSpc>
            </a:pPr>
            <a:endParaRPr lang="en-US" sz="4200" b="1" dirty="0">
              <a:solidFill>
                <a:srgbClr val="18418D"/>
              </a:solidFill>
              <a:latin typeface="DM Sans Bold"/>
              <a:ea typeface="DM Sans Bold"/>
              <a:cs typeface="DM Sans Bold"/>
              <a:sym typeface="DM Sans 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8346548" y="5513518"/>
            <a:ext cx="7122052" cy="46807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1" dirty="0">
                <a:solidFill>
                  <a:srgbClr val="18418D"/>
                </a:solidFill>
                <a:latin typeface="DM Sans Bold"/>
                <a:ea typeface="DM Sans Bold"/>
                <a:cs typeface="DM Sans Bold"/>
                <a:sym typeface="DM Sans Bold"/>
              </a:rPr>
              <a:t>Work Experience</a:t>
            </a:r>
          </a:p>
          <a:p>
            <a:pPr algn="l">
              <a:lnSpc>
                <a:spcPts val="5040"/>
              </a:lnSpc>
            </a:pPr>
            <a:r>
              <a:rPr lang="en-US" sz="4200" b="1" dirty="0">
                <a:solidFill>
                  <a:srgbClr val="18418D"/>
                </a:solidFill>
                <a:latin typeface="DM Sans Bold"/>
                <a:ea typeface="DM Sans Bold"/>
                <a:cs typeface="DM Sans Bold"/>
                <a:sym typeface="DM Sans Bold"/>
              </a:rPr>
              <a:t>Project Overhaul PLTU </a:t>
            </a:r>
            <a:r>
              <a:rPr lang="en-US" sz="4200" b="1" dirty="0" err="1">
                <a:solidFill>
                  <a:srgbClr val="18418D"/>
                </a:solidFill>
                <a:latin typeface="DM Sans Bold"/>
                <a:ea typeface="DM Sans Bold"/>
                <a:cs typeface="DM Sans Bold"/>
                <a:sym typeface="DM Sans Bold"/>
              </a:rPr>
              <a:t>Sebalang</a:t>
            </a:r>
            <a:endParaRPr lang="en-US" sz="4200" b="1" dirty="0">
              <a:solidFill>
                <a:srgbClr val="18418D"/>
              </a:solidFill>
              <a:latin typeface="DM Sans Bold"/>
              <a:ea typeface="DM Sans Bold"/>
              <a:cs typeface="DM Sans Bold"/>
              <a:sym typeface="DM Sans Bold"/>
            </a:endParaRPr>
          </a:p>
          <a:p>
            <a:pPr algn="l">
              <a:lnSpc>
                <a:spcPts val="5040"/>
              </a:lnSpc>
            </a:pPr>
            <a:r>
              <a:rPr lang="en-US" sz="4200" b="1" dirty="0">
                <a:solidFill>
                  <a:srgbClr val="18418D"/>
                </a:solidFill>
                <a:latin typeface="DM Sans Bold"/>
                <a:ea typeface="DM Sans Bold"/>
                <a:cs typeface="DM Sans Bold"/>
                <a:sym typeface="DM Sans Bold"/>
              </a:rPr>
              <a:t>Instrument &amp; Control Technician</a:t>
            </a:r>
          </a:p>
          <a:p>
            <a:pPr algn="l">
              <a:lnSpc>
                <a:spcPts val="5040"/>
              </a:lnSpc>
            </a:pPr>
            <a:r>
              <a:rPr lang="en-US" sz="4200" b="1" dirty="0">
                <a:solidFill>
                  <a:srgbClr val="18418D"/>
                </a:solidFill>
                <a:latin typeface="DM Sans Bold"/>
                <a:ea typeface="DM Sans Bold"/>
                <a:cs typeface="DM Sans Bold"/>
                <a:sym typeface="DM Sans Bold"/>
              </a:rPr>
              <a:t>June-August 2025 </a:t>
            </a:r>
          </a:p>
          <a:p>
            <a:pPr algn="l">
              <a:lnSpc>
                <a:spcPts val="5040"/>
              </a:lnSpc>
            </a:pPr>
            <a:endParaRPr lang="en-US" sz="4200" b="1" dirty="0">
              <a:solidFill>
                <a:srgbClr val="18418D"/>
              </a:solidFill>
              <a:latin typeface="DM Sans Bold"/>
              <a:ea typeface="DM Sans Bold"/>
              <a:cs typeface="DM Sans Bold"/>
              <a:sym typeface="DM Sans 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57300" y="547688"/>
            <a:ext cx="15773400" cy="1988345"/>
            <a:chOff x="0" y="0"/>
            <a:chExt cx="21031200" cy="265112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031200" cy="2651127"/>
            </a:xfrm>
            <a:custGeom>
              <a:avLst/>
              <a:gdLst/>
              <a:ahLst/>
              <a:cxnLst/>
              <a:rect l="l" t="t" r="r" b="b"/>
              <a:pathLst>
                <a:path w="21031200" h="2651127">
                  <a:moveTo>
                    <a:pt x="0" y="0"/>
                  </a:moveTo>
                  <a:lnTo>
                    <a:pt x="21031200" y="0"/>
                  </a:lnTo>
                  <a:lnTo>
                    <a:pt x="21031200" y="2651127"/>
                  </a:lnTo>
                  <a:lnTo>
                    <a:pt x="0" y="265112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04573" b="-104573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57150"/>
              <a:ext cx="21031200" cy="259397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128"/>
                </a:lnSpc>
              </a:pPr>
              <a:r>
                <a:rPr lang="en-US" sz="6600" b="1">
                  <a:solidFill>
                    <a:srgbClr val="18418D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Project Overview</a:t>
              </a: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348740" y="2831783"/>
            <a:ext cx="15120280" cy="57313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60095" lvl="1" indent="-380048" algn="l">
              <a:lnSpc>
                <a:spcPts val="4536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Implementation of the Web-Based Internet of Things in Building Management Systems Aspects of Fire Protection and HVAC </a:t>
            </a:r>
          </a:p>
          <a:p>
            <a:pPr marL="760095" lvl="1" indent="-380048" algn="l">
              <a:lnSpc>
                <a:spcPts val="4536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Mengembangkan sistem manajemen bangunan berbasis Internet of Things (IoT).</a:t>
            </a:r>
          </a:p>
          <a:p>
            <a:pPr marL="760095" lvl="1" indent="-380048" algn="l">
              <a:lnSpc>
                <a:spcPts val="4536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Berfokus pada dua aspek utama:</a:t>
            </a:r>
          </a:p>
          <a:p>
            <a:pPr algn="l">
              <a:lnSpc>
                <a:spcPts val="4536"/>
              </a:lnSpc>
            </a:pPr>
            <a:r>
              <a:rPr lang="en-US" sz="42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    Sistem proteksi kebakaran.</a:t>
            </a:r>
          </a:p>
          <a:p>
            <a:pPr algn="l">
              <a:lnSpc>
                <a:spcPts val="4536"/>
              </a:lnSpc>
            </a:pPr>
            <a:r>
              <a:rPr lang="en-US" sz="42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    Sistem sirkulasi udara.</a:t>
            </a:r>
          </a:p>
          <a:p>
            <a:pPr marL="760095" lvl="1" indent="-380048" algn="l">
              <a:lnSpc>
                <a:spcPts val="4536"/>
              </a:lnSpc>
            </a:pPr>
            <a:endParaRPr lang="en-US" sz="4200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760095" lvl="1" indent="-380048" algn="l">
              <a:lnSpc>
                <a:spcPts val="4536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Tools : Arduino, Thingspeak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57300" y="547688"/>
            <a:ext cx="15773400" cy="1988345"/>
            <a:chOff x="0" y="0"/>
            <a:chExt cx="21031200" cy="265112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031200" cy="2651127"/>
            </a:xfrm>
            <a:custGeom>
              <a:avLst/>
              <a:gdLst/>
              <a:ahLst/>
              <a:cxnLst/>
              <a:rect l="l" t="t" r="r" b="b"/>
              <a:pathLst>
                <a:path w="21031200" h="2651127">
                  <a:moveTo>
                    <a:pt x="0" y="0"/>
                  </a:moveTo>
                  <a:lnTo>
                    <a:pt x="21031200" y="0"/>
                  </a:lnTo>
                  <a:lnTo>
                    <a:pt x="21031200" y="2651127"/>
                  </a:lnTo>
                  <a:lnTo>
                    <a:pt x="0" y="265112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04573" b="-104573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57150"/>
              <a:ext cx="21031200" cy="259397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128"/>
                </a:lnSpc>
              </a:pPr>
              <a:r>
                <a:rPr lang="en-US" sz="6600" b="1">
                  <a:solidFill>
                    <a:srgbClr val="007BFF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Main Project</a:t>
              </a: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348740" y="2803731"/>
            <a:ext cx="9166860" cy="10191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194435" lvl="1" indent="-597217" algn="l">
              <a:lnSpc>
                <a:spcPts val="7920"/>
              </a:lnSpc>
              <a:buFont typeface="Arial"/>
              <a:buChar char="•"/>
            </a:pPr>
            <a:r>
              <a:rPr lang="en-US" sz="6600" b="1" dirty="0">
                <a:solidFill>
                  <a:srgbClr val="00C197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Problem Statement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590115" y="4208450"/>
            <a:ext cx="8466634" cy="923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085850" lvl="1" indent="-542925" algn="l">
              <a:lnSpc>
                <a:spcPts val="7200"/>
              </a:lnSpc>
              <a:buFont typeface="Arial"/>
              <a:buChar char="•"/>
            </a:pPr>
            <a:r>
              <a:rPr lang="en-US" sz="6000" b="1" dirty="0">
                <a:solidFill>
                  <a:srgbClr val="00A3C4"/>
                </a:solidFill>
                <a:latin typeface="DM Sans Bold"/>
                <a:ea typeface="DM Sans Bold"/>
                <a:cs typeface="DM Sans Bold"/>
                <a:sym typeface="DM Sans Bold"/>
              </a:rPr>
              <a:t>Data Understanding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724020" y="5511317"/>
            <a:ext cx="7356376" cy="923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085850" lvl="1" indent="-542925" algn="l">
              <a:lnSpc>
                <a:spcPts val="7200"/>
              </a:lnSpc>
              <a:buFont typeface="Arial"/>
              <a:buChar char="•"/>
            </a:pPr>
            <a:r>
              <a:rPr lang="en-US" sz="6000" b="1">
                <a:solidFill>
                  <a:srgbClr val="0563C1"/>
                </a:solidFill>
                <a:latin typeface="DM Sans Bold"/>
                <a:ea typeface="DM Sans Bold"/>
                <a:cs typeface="DM Sans Bold"/>
                <a:sym typeface="DM Sans Bold"/>
              </a:rPr>
              <a:t>Data Preparation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808356" y="6814175"/>
            <a:ext cx="5907643" cy="9239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085850" lvl="1" indent="-542925" algn="l">
              <a:lnSpc>
                <a:spcPts val="7200"/>
              </a:lnSpc>
              <a:buFont typeface="Arial"/>
              <a:buChar char="•"/>
            </a:pPr>
            <a:r>
              <a:rPr lang="en-US" sz="6000" b="1" dirty="0">
                <a:solidFill>
                  <a:srgbClr val="007BFF"/>
                </a:solidFill>
                <a:latin typeface="DM Sans Bold"/>
                <a:ea typeface="DM Sans Bold"/>
                <a:cs typeface="DM Sans Bold"/>
                <a:sym typeface="DM Sans Bold"/>
              </a:rPr>
              <a:t>Visualization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968808" y="8117034"/>
            <a:ext cx="7709592" cy="9239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085850" lvl="1" indent="-542925" algn="l">
              <a:lnSpc>
                <a:spcPts val="7200"/>
              </a:lnSpc>
              <a:buFont typeface="Arial"/>
              <a:buChar char="•"/>
            </a:pPr>
            <a:r>
              <a:rPr lang="en-US" sz="6000" b="1" dirty="0">
                <a:solidFill>
                  <a:srgbClr val="18418D"/>
                </a:solidFill>
                <a:latin typeface="DM Sans Bold"/>
                <a:ea typeface="DM Sans Bold"/>
                <a:cs typeface="DM Sans Bold"/>
                <a:sym typeface="DM Sans Bold"/>
              </a:rPr>
              <a:t>Recommendation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57300" y="547688"/>
            <a:ext cx="15773400" cy="1988345"/>
            <a:chOff x="0" y="0"/>
            <a:chExt cx="21031200" cy="265112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031200" cy="2651127"/>
            </a:xfrm>
            <a:custGeom>
              <a:avLst/>
              <a:gdLst/>
              <a:ahLst/>
              <a:cxnLst/>
              <a:rect l="l" t="t" r="r" b="b"/>
              <a:pathLst>
                <a:path w="21031200" h="2651127">
                  <a:moveTo>
                    <a:pt x="0" y="0"/>
                  </a:moveTo>
                  <a:lnTo>
                    <a:pt x="21031200" y="0"/>
                  </a:lnTo>
                  <a:lnTo>
                    <a:pt x="21031200" y="2651127"/>
                  </a:lnTo>
                  <a:lnTo>
                    <a:pt x="0" y="265112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04573" b="-104573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57150"/>
              <a:ext cx="21031200" cy="259397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128"/>
                </a:lnSpc>
              </a:pPr>
              <a:r>
                <a:rPr lang="en-US" sz="6600" b="1">
                  <a:solidFill>
                    <a:srgbClr val="00C197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Problem Statement</a:t>
              </a: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348740" y="2831783"/>
            <a:ext cx="15590520" cy="40168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60095" lvl="1" indent="-380048" algn="l">
              <a:lnSpc>
                <a:spcPts val="4536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Melihat status karyawan secara keseluruhan</a:t>
            </a:r>
          </a:p>
          <a:p>
            <a:pPr marL="760095" lvl="1" indent="-380048" algn="l">
              <a:lnSpc>
                <a:spcPts val="4536"/>
              </a:lnSpc>
            </a:pPr>
            <a:r>
              <a:rPr lang="en-US" sz="42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	Melihat distribusi karyawan aktif dan non aktif</a:t>
            </a:r>
          </a:p>
          <a:p>
            <a:pPr marL="760095" lvl="1" indent="-380048" algn="l">
              <a:lnSpc>
                <a:spcPts val="4536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Membandingkan performa karyawan aktif</a:t>
            </a:r>
          </a:p>
          <a:p>
            <a:pPr marL="760095" lvl="1" indent="-380048" algn="l">
              <a:lnSpc>
                <a:spcPts val="4536"/>
              </a:lnSpc>
            </a:pPr>
            <a:r>
              <a:rPr lang="en-US" sz="42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	Membandingkan performa berdasarkan departemen</a:t>
            </a:r>
          </a:p>
          <a:p>
            <a:pPr marL="760095" lvl="1" indent="-380048" algn="l">
              <a:lnSpc>
                <a:spcPts val="4536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Prioritas perbaikan</a:t>
            </a:r>
          </a:p>
          <a:p>
            <a:pPr marL="760095" lvl="1" indent="-380048" algn="l">
              <a:lnSpc>
                <a:spcPts val="4536"/>
              </a:lnSpc>
            </a:pPr>
            <a:r>
              <a:rPr lang="en-US" sz="42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	Melihat departemen dengan tingkat underperform tinggi untuk 	dievaluasi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57300" y="547688"/>
            <a:ext cx="15773400" cy="1988345"/>
            <a:chOff x="0" y="0"/>
            <a:chExt cx="21031200" cy="265112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031200" cy="2651127"/>
            </a:xfrm>
            <a:custGeom>
              <a:avLst/>
              <a:gdLst/>
              <a:ahLst/>
              <a:cxnLst/>
              <a:rect l="l" t="t" r="r" b="b"/>
              <a:pathLst>
                <a:path w="21031200" h="2651127">
                  <a:moveTo>
                    <a:pt x="0" y="0"/>
                  </a:moveTo>
                  <a:lnTo>
                    <a:pt x="21031200" y="0"/>
                  </a:lnTo>
                  <a:lnTo>
                    <a:pt x="21031200" y="2651127"/>
                  </a:lnTo>
                  <a:lnTo>
                    <a:pt x="0" y="265112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04573" b="-104573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57150"/>
              <a:ext cx="21031200" cy="259397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128"/>
                </a:lnSpc>
              </a:pPr>
              <a:r>
                <a:rPr lang="en-US" sz="6600" b="1">
                  <a:solidFill>
                    <a:srgbClr val="00A3C4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Data Understanding</a:t>
              </a: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348740" y="2831783"/>
            <a:ext cx="15590520" cy="34453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60095" lvl="1" indent="-380048" algn="l">
              <a:lnSpc>
                <a:spcPts val="4536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Data diperoleh dari Kaggle : </a:t>
            </a:r>
            <a:r>
              <a:rPr lang="en-US" sz="4200" u="sng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  <a:hlinkClick r:id="rId3" tooltip="https://www.kaggle.com/datasets/ravindrasinghrana/employeedataset"/>
              </a:rPr>
              <a:t>employee data</a:t>
            </a:r>
          </a:p>
          <a:p>
            <a:pPr marL="760095" lvl="1" indent="-380048" algn="l">
              <a:lnSpc>
                <a:spcPts val="4536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Periode data : Agustus 2018 – Agustus 2023</a:t>
            </a:r>
          </a:p>
          <a:p>
            <a:pPr marL="760095" lvl="1" indent="-380048" algn="l">
              <a:lnSpc>
                <a:spcPts val="4536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Range data : 3000 baris dan 26 kolom</a:t>
            </a:r>
          </a:p>
          <a:p>
            <a:pPr marL="760095" lvl="1" indent="-380048" algn="l">
              <a:lnSpc>
                <a:spcPts val="4536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Double data : DepartmentType (3.2%)</a:t>
            </a:r>
          </a:p>
          <a:p>
            <a:pPr marL="760095" lvl="1" indent="-380048" algn="l">
              <a:lnSpc>
                <a:spcPts val="4536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Missing value : ExitDate, TerminationDescription (48.9%)</a:t>
            </a:r>
          </a:p>
          <a:p>
            <a:pPr marL="760095" lvl="1" indent="-380048" algn="l">
              <a:lnSpc>
                <a:spcPts val="4536"/>
              </a:lnSpc>
            </a:pPr>
            <a:endParaRPr lang="en-US" sz="4200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57300" y="547688"/>
            <a:ext cx="15773400" cy="1988345"/>
            <a:chOff x="0" y="0"/>
            <a:chExt cx="21031200" cy="265112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031200" cy="2651127"/>
            </a:xfrm>
            <a:custGeom>
              <a:avLst/>
              <a:gdLst/>
              <a:ahLst/>
              <a:cxnLst/>
              <a:rect l="l" t="t" r="r" b="b"/>
              <a:pathLst>
                <a:path w="21031200" h="2651127">
                  <a:moveTo>
                    <a:pt x="0" y="0"/>
                  </a:moveTo>
                  <a:lnTo>
                    <a:pt x="21031200" y="0"/>
                  </a:lnTo>
                  <a:lnTo>
                    <a:pt x="21031200" y="2651127"/>
                  </a:lnTo>
                  <a:lnTo>
                    <a:pt x="0" y="265112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04573" b="-104573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57150"/>
              <a:ext cx="21031200" cy="259397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128"/>
                </a:lnSpc>
              </a:pPr>
              <a:r>
                <a:rPr lang="en-US" sz="6600" b="1">
                  <a:solidFill>
                    <a:srgbClr val="0563C1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Data Preparation</a:t>
              </a: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137018" y="2380717"/>
            <a:ext cx="15590520" cy="5878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60095" lvl="1" indent="-380048" algn="l">
              <a:lnSpc>
                <a:spcPts val="4536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Double data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504817" y="3254331"/>
            <a:ext cx="3649466" cy="6043127"/>
            <a:chOff x="0" y="0"/>
            <a:chExt cx="4865954" cy="805750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866005" cy="8057515"/>
            </a:xfrm>
            <a:custGeom>
              <a:avLst/>
              <a:gdLst/>
              <a:ahLst/>
              <a:cxnLst/>
              <a:rect l="l" t="t" r="r" b="b"/>
              <a:pathLst>
                <a:path w="4866005" h="8057515">
                  <a:moveTo>
                    <a:pt x="0" y="0"/>
                  </a:moveTo>
                  <a:lnTo>
                    <a:pt x="4866005" y="0"/>
                  </a:lnTo>
                  <a:lnTo>
                    <a:pt x="4866005" y="8057515"/>
                  </a:lnTo>
                  <a:lnTo>
                    <a:pt x="0" y="80575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26384" r="-344639" b="-33889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6815042" y="4084882"/>
            <a:ext cx="4657916" cy="1058618"/>
            <a:chOff x="0" y="0"/>
            <a:chExt cx="6210554" cy="141149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210554" cy="1411478"/>
            </a:xfrm>
            <a:custGeom>
              <a:avLst/>
              <a:gdLst/>
              <a:ahLst/>
              <a:cxnLst/>
              <a:rect l="l" t="t" r="r" b="b"/>
              <a:pathLst>
                <a:path w="6210554" h="1411478">
                  <a:moveTo>
                    <a:pt x="0" y="0"/>
                  </a:moveTo>
                  <a:lnTo>
                    <a:pt x="6210554" y="0"/>
                  </a:lnTo>
                  <a:lnTo>
                    <a:pt x="6210554" y="1411478"/>
                  </a:lnTo>
                  <a:lnTo>
                    <a:pt x="0" y="14114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43242" t="-146104" r="-226797" b="-725721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13133718" y="2934338"/>
            <a:ext cx="2678763" cy="6683102"/>
            <a:chOff x="0" y="0"/>
            <a:chExt cx="3571684" cy="891080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3571621" cy="8910828"/>
            </a:xfrm>
            <a:custGeom>
              <a:avLst/>
              <a:gdLst/>
              <a:ahLst/>
              <a:cxnLst/>
              <a:rect l="l" t="t" r="r" b="b"/>
              <a:pathLst>
                <a:path w="3571621" h="8910828">
                  <a:moveTo>
                    <a:pt x="0" y="0"/>
                  </a:moveTo>
                  <a:lnTo>
                    <a:pt x="3571621" y="0"/>
                  </a:lnTo>
                  <a:lnTo>
                    <a:pt x="3571621" y="8910828"/>
                  </a:lnTo>
                  <a:lnTo>
                    <a:pt x="0" y="89108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491778" t="-28907" r="-28433" b="-19471"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>
            <a:off x="5561066" y="4500182"/>
            <a:ext cx="1068467" cy="745998"/>
            <a:chOff x="0" y="0"/>
            <a:chExt cx="1424622" cy="994664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424559" cy="994664"/>
            </a:xfrm>
            <a:custGeom>
              <a:avLst/>
              <a:gdLst/>
              <a:ahLst/>
              <a:cxnLst/>
              <a:rect l="l" t="t" r="r" b="b"/>
              <a:pathLst>
                <a:path w="1424559" h="994664">
                  <a:moveTo>
                    <a:pt x="0" y="248666"/>
                  </a:moveTo>
                  <a:lnTo>
                    <a:pt x="927227" y="248666"/>
                  </a:lnTo>
                  <a:lnTo>
                    <a:pt x="927227" y="0"/>
                  </a:lnTo>
                  <a:lnTo>
                    <a:pt x="1424559" y="497332"/>
                  </a:lnTo>
                  <a:lnTo>
                    <a:pt x="927227" y="994664"/>
                  </a:lnTo>
                  <a:lnTo>
                    <a:pt x="927227" y="745998"/>
                  </a:lnTo>
                  <a:lnTo>
                    <a:pt x="0" y="745998"/>
                  </a:lnTo>
                  <a:close/>
                </a:path>
              </a:pathLst>
            </a:custGeom>
            <a:solidFill>
              <a:srgbClr val="00C197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11769109" y="4500182"/>
            <a:ext cx="1068467" cy="745998"/>
            <a:chOff x="0" y="0"/>
            <a:chExt cx="1424622" cy="994664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424559" cy="994664"/>
            </a:xfrm>
            <a:custGeom>
              <a:avLst/>
              <a:gdLst/>
              <a:ahLst/>
              <a:cxnLst/>
              <a:rect l="l" t="t" r="r" b="b"/>
              <a:pathLst>
                <a:path w="1424559" h="994664">
                  <a:moveTo>
                    <a:pt x="0" y="248666"/>
                  </a:moveTo>
                  <a:lnTo>
                    <a:pt x="927227" y="248666"/>
                  </a:lnTo>
                  <a:lnTo>
                    <a:pt x="927227" y="0"/>
                  </a:lnTo>
                  <a:lnTo>
                    <a:pt x="1424559" y="497332"/>
                  </a:lnTo>
                  <a:lnTo>
                    <a:pt x="927227" y="994664"/>
                  </a:lnTo>
                  <a:lnTo>
                    <a:pt x="927227" y="745998"/>
                  </a:lnTo>
                  <a:lnTo>
                    <a:pt x="0" y="745998"/>
                  </a:lnTo>
                  <a:close/>
                </a:path>
              </a:pathLst>
            </a:custGeom>
            <a:solidFill>
              <a:srgbClr val="00C197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57300" y="547688"/>
            <a:ext cx="15773400" cy="1988345"/>
            <a:chOff x="0" y="0"/>
            <a:chExt cx="21031200" cy="265112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031200" cy="2651127"/>
            </a:xfrm>
            <a:custGeom>
              <a:avLst/>
              <a:gdLst/>
              <a:ahLst/>
              <a:cxnLst/>
              <a:rect l="l" t="t" r="r" b="b"/>
              <a:pathLst>
                <a:path w="21031200" h="2651127">
                  <a:moveTo>
                    <a:pt x="0" y="0"/>
                  </a:moveTo>
                  <a:lnTo>
                    <a:pt x="21031200" y="0"/>
                  </a:lnTo>
                  <a:lnTo>
                    <a:pt x="21031200" y="2651127"/>
                  </a:lnTo>
                  <a:lnTo>
                    <a:pt x="0" y="265112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04573" b="-104573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57150"/>
              <a:ext cx="21031200" cy="259397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128"/>
                </a:lnSpc>
              </a:pPr>
              <a:r>
                <a:rPr lang="en-US" sz="6600" b="1">
                  <a:solidFill>
                    <a:srgbClr val="007BFF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Visualization</a:t>
              </a:r>
            </a:p>
          </p:txBody>
        </p:sp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641" y="1315611"/>
            <a:ext cx="9151903" cy="8373794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9701851" y="2591276"/>
            <a:ext cx="6656518" cy="2390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199"/>
              </a:lnSpc>
            </a:pPr>
            <a:r>
              <a:rPr lang="en-US" sz="2666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Berdasarkan employee status, 85% (2544) pekerja masih berstatus pegawai aktif, ini menandakan bahwa Perusahaan cukup baik dalam mempertahankan pekerjanya. Angka tersebut belum ditambah 2% (69) yang akan segera bergabung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57300" y="547688"/>
            <a:ext cx="15773400" cy="1988345"/>
            <a:chOff x="0" y="0"/>
            <a:chExt cx="21031200" cy="265112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031200" cy="2651127"/>
            </a:xfrm>
            <a:custGeom>
              <a:avLst/>
              <a:gdLst/>
              <a:ahLst/>
              <a:cxnLst/>
              <a:rect l="l" t="t" r="r" b="b"/>
              <a:pathLst>
                <a:path w="21031200" h="2651127">
                  <a:moveTo>
                    <a:pt x="0" y="0"/>
                  </a:moveTo>
                  <a:lnTo>
                    <a:pt x="21031200" y="0"/>
                  </a:lnTo>
                  <a:lnTo>
                    <a:pt x="21031200" y="2651127"/>
                  </a:lnTo>
                  <a:lnTo>
                    <a:pt x="0" y="265112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04573" b="-104573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57150"/>
              <a:ext cx="21031200" cy="259397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128"/>
                </a:lnSpc>
              </a:pPr>
              <a:r>
                <a:rPr lang="en-US" sz="6600" b="1">
                  <a:solidFill>
                    <a:srgbClr val="007BFF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Visualization</a:t>
              </a:r>
            </a:p>
          </p:txBody>
        </p:sp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136" y="1814868"/>
            <a:ext cx="8653968" cy="825900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9910505" y="2581751"/>
            <a:ext cx="5651116" cy="2971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956"/>
              </a:lnSpc>
            </a:pPr>
            <a:r>
              <a:rPr lang="en-US" sz="2463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Secara keseluruhan, performa di setiap departemen cukup baik (exceeds dan fully meets), dengan software engineering yang memiliki 100% (92) performa Fully Meets. Tetapi disisi lain ini bisa menjadi indikasi bahwa adanya  penerapan standar penilaian yang berbeda antar departemen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57300" y="547688"/>
            <a:ext cx="15773400" cy="1988345"/>
            <a:chOff x="0" y="0"/>
            <a:chExt cx="21031200" cy="265112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031200" cy="2651127"/>
            </a:xfrm>
            <a:custGeom>
              <a:avLst/>
              <a:gdLst/>
              <a:ahLst/>
              <a:cxnLst/>
              <a:rect l="l" t="t" r="r" b="b"/>
              <a:pathLst>
                <a:path w="21031200" h="2651127">
                  <a:moveTo>
                    <a:pt x="0" y="0"/>
                  </a:moveTo>
                  <a:lnTo>
                    <a:pt x="21031200" y="0"/>
                  </a:lnTo>
                  <a:lnTo>
                    <a:pt x="21031200" y="2651127"/>
                  </a:lnTo>
                  <a:lnTo>
                    <a:pt x="0" y="265112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04573" b="-104573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57150"/>
              <a:ext cx="21031200" cy="259397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128"/>
                </a:lnSpc>
              </a:pPr>
              <a:r>
                <a:rPr lang="en-US" sz="6600" b="1">
                  <a:solidFill>
                    <a:srgbClr val="007BFF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Visualization</a:t>
              </a:r>
            </a:p>
          </p:txBody>
        </p:sp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141" y="2443213"/>
            <a:ext cx="9424680" cy="7475635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9763220" y="2973229"/>
            <a:ext cx="6170152" cy="195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078"/>
              </a:lnSpc>
            </a:pPr>
            <a:r>
              <a:rPr lang="en-US" sz="256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Departemen dengan jumlah karyawan yang tidak perform (Needs Improvement dan PIP) adalah Production dengan total 164. Ini bisa jadi focus utama Perusahaan untuk melakukan evaluasi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57300" y="547688"/>
            <a:ext cx="15773400" cy="1988345"/>
            <a:chOff x="0" y="0"/>
            <a:chExt cx="21031200" cy="265112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031200" cy="2651127"/>
            </a:xfrm>
            <a:custGeom>
              <a:avLst/>
              <a:gdLst/>
              <a:ahLst/>
              <a:cxnLst/>
              <a:rect l="l" t="t" r="r" b="b"/>
              <a:pathLst>
                <a:path w="21031200" h="2651127">
                  <a:moveTo>
                    <a:pt x="0" y="0"/>
                  </a:moveTo>
                  <a:lnTo>
                    <a:pt x="21031200" y="0"/>
                  </a:lnTo>
                  <a:lnTo>
                    <a:pt x="21031200" y="2651127"/>
                  </a:lnTo>
                  <a:lnTo>
                    <a:pt x="0" y="265112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04573" b="-104573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57150"/>
              <a:ext cx="21031200" cy="259397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128"/>
                </a:lnSpc>
              </a:pPr>
              <a:r>
                <a:rPr lang="en-US" sz="6600" b="1">
                  <a:solidFill>
                    <a:srgbClr val="18418D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Recommendation</a:t>
              </a: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348740" y="2831783"/>
            <a:ext cx="15590520" cy="23023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60095" lvl="1" indent="-380048" algn="l">
              <a:lnSpc>
                <a:spcPts val="4536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Mengevaluasi sistem penilaian performa karyawan</a:t>
            </a:r>
          </a:p>
          <a:p>
            <a:pPr marL="760095" lvl="1" indent="-380048" algn="l">
              <a:lnSpc>
                <a:spcPts val="4536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Memprioritaskan evaluasi performa pada departemen production</a:t>
            </a:r>
          </a:p>
          <a:p>
            <a:pPr marL="760095" lvl="1" indent="-380048" algn="l">
              <a:lnSpc>
                <a:spcPts val="4536"/>
              </a:lnSpc>
            </a:pPr>
            <a:endParaRPr lang="en-US" sz="4200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315</Words>
  <Application>Microsoft Office PowerPoint</Application>
  <PresentationFormat>Custom</PresentationFormat>
  <Paragraphs>55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DM Sans Bold</vt:lpstr>
      <vt:lpstr>Public Sans Bold</vt:lpstr>
      <vt:lpstr>Calibri</vt:lpstr>
      <vt:lpstr>DM Sans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EMPLOYEE PERFORMANCE EVALUATION.pptx</dc:title>
  <cp:lastModifiedBy>Irwan Saldeni</cp:lastModifiedBy>
  <cp:revision>3</cp:revision>
  <dcterms:created xsi:type="dcterms:W3CDTF">2006-08-16T00:00:00Z</dcterms:created>
  <dcterms:modified xsi:type="dcterms:W3CDTF">2026-08-17T23:39:36Z</dcterms:modified>
  <dc:identifier>DAHSjwDiEFM</dc:identifier>
</cp:coreProperties>
</file>